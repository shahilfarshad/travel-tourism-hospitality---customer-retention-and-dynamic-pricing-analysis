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il farshad" userId="ba6f3d9a6d42df37" providerId="LiveId" clId="{FDC9EA88-2B9D-438B-A850-4C37E261A004}"/>
    <pc:docChg chg="modSld">
      <pc:chgData name="Shahil farshad" userId="ba6f3d9a6d42df37" providerId="LiveId" clId="{FDC9EA88-2B9D-438B-A850-4C37E261A004}" dt="2026-05-12T13:47:18.845" v="0" actId="14100"/>
      <pc:docMkLst>
        <pc:docMk/>
      </pc:docMkLst>
      <pc:sldChg chg="modSp mod">
        <pc:chgData name="Shahil farshad" userId="ba6f3d9a6d42df37" providerId="LiveId" clId="{FDC9EA88-2B9D-438B-A850-4C37E261A004}" dt="2026-05-12T13:47:18.845" v="0" actId="14100"/>
        <pc:sldMkLst>
          <pc:docMk/>
          <pc:sldMk cId="0" sldId="261"/>
        </pc:sldMkLst>
        <pc:spChg chg="mod">
          <ac:chgData name="Shahil farshad" userId="ba6f3d9a6d42df37" providerId="LiveId" clId="{FDC9EA88-2B9D-438B-A850-4C37E261A004}" dt="2026-05-12T13:47:18.845" v="0" actId="14100"/>
          <ac:spMkLst>
            <pc:docMk/>
            <pc:sldMk cId="0" sldId="261"/>
            <ac:spMk id="2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47.png"/><Relationship Id="rId7" Type="http://schemas.openxmlformats.org/officeDocument/2006/relationships/image" Target="../media/image76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325E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104" y="1819477"/>
            <a:ext cx="571485" cy="4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38299" y="2705099"/>
            <a:ext cx="8105572" cy="15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Montserrat"/>
              </a:rPr>
              <a:t> Customer Retention &amp;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  <a:latin typeface="Montserrat"/>
              </a:rPr>
              <a:t> </a:t>
            </a:r>
            <a:r>
              <a:rPr sz="3827" b="1">
                <a:solidFill>
                  <a:srgbClr val="7DE545"/>
                </a:solidFill>
                <a:latin typeface="Montserrat"/>
              </a:rPr>
              <a:t>Dynamic Pricing Analysis</a:t>
            </a:r>
            <a:r>
              <a:rPr sz="3827" b="1">
                <a:solidFill>
                  <a:srgbClr val="FFFFFF"/>
                </a:solidFill>
                <a:latin typeface="Montserrat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262" y="4457700"/>
            <a:ext cx="1219169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19329" y="4800600"/>
            <a:ext cx="655303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E5E7EB"/>
                </a:solidFill>
                <a:latin typeface="Roboto Flex"/>
              </a:rPr>
              <a:t>Hospitality Analytics | Machine Learning | Power BI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104" y="62865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38699" y="62865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7DE54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7293" y="62865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7DE545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59720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Executive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87642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1980" y="2032552"/>
            <a:ext cx="266693" cy="144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18" y="1838324"/>
            <a:ext cx="573390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Revenue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18" y="2286000"/>
            <a:ext cx="5733906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 Hotels experience major revenue leakage due to </a:t>
            </a:r>
            <a:r>
              <a:rPr sz="1315" b="0">
                <a:solidFill>
                  <a:srgbClr val="7DE545"/>
                </a:solidFill>
                <a:latin typeface="Roboto Flex"/>
              </a:rPr>
              <a:t>booking cancellations</a:t>
            </a:r>
            <a:r>
              <a:rPr sz="1315" b="0">
                <a:solidFill>
                  <a:srgbClr val="D1D5DB"/>
                </a:solidFill>
                <a:latin typeface="Roboto Flex"/>
              </a:rPr>
              <a:t> and </a:t>
            </a:r>
            <a:r>
              <a:rPr sz="1315" b="0">
                <a:solidFill>
                  <a:srgbClr val="7DE545"/>
                </a:solidFill>
                <a:latin typeface="Roboto Flex"/>
              </a:rPr>
              <a:t>inefficient pricing strategies</a:t>
            </a:r>
            <a:r>
              <a:rPr sz="1315" b="0">
                <a:solidFill>
                  <a:srgbClr val="D1D5DB"/>
                </a:solidFill>
                <a:latin typeface="Roboto Flex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30517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980" y="3420717"/>
            <a:ext cx="266693" cy="2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76318" y="3267075"/>
            <a:ext cx="573390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Traditional Systems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6318" y="3714750"/>
            <a:ext cx="5733906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Cannot accurately forecast cancellations or optimize room pricing dynamically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7434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980" y="4858992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6318" y="4705350"/>
            <a:ext cx="573390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5153024"/>
            <a:ext cx="5733906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 Uses </a:t>
            </a:r>
            <a:r>
              <a:rPr sz="1315" b="0">
                <a:solidFill>
                  <a:srgbClr val="7DE545"/>
                </a:solidFill>
                <a:latin typeface="Roboto Flex"/>
              </a:rPr>
              <a:t>analytics and machine learning</a:t>
            </a:r>
            <a:r>
              <a:rPr sz="1315" b="0">
                <a:solidFill>
                  <a:srgbClr val="D1D5DB"/>
                </a:solidFill>
                <a:latin typeface="Roboto Flex"/>
              </a:rPr>
              <a:t> to improve customer retention and revenue management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9" y="1447800"/>
            <a:ext cx="3905152" cy="47625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619809" y="5505450"/>
            <a:ext cx="3905152" cy="71437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8403" y="5734050"/>
            <a:ext cx="344796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Data-Driven Hospitality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400039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Business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571500"/>
            <a:ext cx="6800679" cy="1152524"/>
          </a:xfrm>
          <a:prstGeom prst="roundRect">
            <a:avLst>
              <a:gd name="adj" fmla="val 132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56511" y="1081722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426" y="8762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7723" y="1060938"/>
            <a:ext cx="304792" cy="164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57308" y="800100"/>
            <a:ext cx="421946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Reduce Customer Cancellation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7308" y="1209674"/>
            <a:ext cx="421946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Minimize revenue loss from booking cancellations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1914525"/>
            <a:ext cx="6800679" cy="1152524"/>
          </a:xfrm>
          <a:prstGeom prst="roundRect">
            <a:avLst>
              <a:gd name="adj" fmla="val 132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56511" y="2424747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3426" y="22288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2401765"/>
            <a:ext cx="304792" cy="1875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57308" y="2143125"/>
            <a:ext cx="445758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Improve Customer Retention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7308" y="2552700"/>
            <a:ext cx="445758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Enhance loyalty and repeat bookings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257550"/>
            <a:ext cx="6800679" cy="1152524"/>
          </a:xfrm>
          <a:prstGeom prst="roundRect">
            <a:avLst>
              <a:gd name="adj" fmla="val 132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56511" y="3767772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3426" y="356234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23" y="3720611"/>
            <a:ext cx="304792" cy="2168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57308" y="3486150"/>
            <a:ext cx="542911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Optimize Revenue Per Available Room (RevPAR)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7308" y="3895724"/>
            <a:ext cx="542911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Maximize revenue from available inventory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600575"/>
            <a:ext cx="6800679" cy="1152524"/>
          </a:xfrm>
          <a:prstGeom prst="roundRect">
            <a:avLst>
              <a:gd name="adj" fmla="val 132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56511" y="5110797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3426" y="49149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5052646"/>
            <a:ext cx="304792" cy="2579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57308" y="4829175"/>
            <a:ext cx="426709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Understand Seasonal Booking Trends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7308" y="5238749"/>
            <a:ext cx="426709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Identify and capitalize on demand patterns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943600"/>
            <a:ext cx="6800679" cy="1152524"/>
          </a:xfrm>
          <a:prstGeom prst="roundRect">
            <a:avLst>
              <a:gd name="adj" fmla="val 132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156511" y="6453822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33426" y="62484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723" y="6402265"/>
            <a:ext cx="304792" cy="22566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57308" y="6172200"/>
            <a:ext cx="435281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Support Data-Driven Pricing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57308" y="6581774"/>
            <a:ext cx="435281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Enable strategic pricing optimization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29494" y="1314450"/>
            <a:ext cx="1219169" cy="1219200"/>
          </a:xfrm>
          <a:prstGeom prst="roundRect">
            <a:avLst>
              <a:gd name="adj" fmla="val 15623437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96187" y="1676059"/>
            <a:ext cx="685782" cy="4959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53196" y="2762249"/>
            <a:ext cx="337176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780"/>
              </a:spcAft>
            </a:pPr>
            <a:r>
              <a:rPr sz="1913" b="1">
                <a:solidFill>
                  <a:srgbClr val="FFFFFF"/>
                </a:solidFill>
                <a:latin typeface="Montserrat"/>
              </a:rPr>
              <a:t>5 Core Objectives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3196" y="3333749"/>
            <a:ext cx="337176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CA3AF"/>
                </a:solidFill>
                <a:latin typeface="Roboto Flex"/>
              </a:rPr>
              <a:t>Driving Business Growth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3196" y="4267199"/>
            <a:ext cx="3371765" cy="2085975"/>
          </a:xfrm>
          <a:prstGeom prst="roundRect">
            <a:avLst>
              <a:gd name="adj" fmla="val 109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81790" y="4495799"/>
            <a:ext cx="12858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Strategic Goals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67773" y="4551045"/>
            <a:ext cx="228594" cy="194309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381790" y="50672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72285" y="4952999"/>
            <a:ext cx="202877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Revenue Optimization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1790" y="54959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72285" y="5372100"/>
            <a:ext cx="205734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Customer Satisfaction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81790" y="59245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72285" y="5810249"/>
            <a:ext cx="200972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Operational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468618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Dataset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2286000"/>
            <a:ext cx="573390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Dataset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838035"/>
            <a:ext cx="266693" cy="191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23" y="2762249"/>
            <a:ext cx="31717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1D5DB"/>
                </a:solidFill>
                <a:latin typeface="Roboto Flex"/>
              </a:rPr>
              <a:t>Hotel Booking Demand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3486150"/>
            <a:ext cx="573390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04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Core Technologies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4038599"/>
            <a:ext cx="1809704" cy="1038224"/>
          </a:xfrm>
          <a:prstGeom prst="roundRect">
            <a:avLst>
              <a:gd name="adj" fmla="val 146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139" y="4270812"/>
            <a:ext cx="342891" cy="183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29" y="4610099"/>
            <a:ext cx="150491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8834" y="4038599"/>
            <a:ext cx="1809704" cy="1038224"/>
          </a:xfrm>
          <a:prstGeom prst="roundRect">
            <a:avLst>
              <a:gd name="adj" fmla="val 146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2240" y="4229428"/>
            <a:ext cx="342891" cy="266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81230" y="4610099"/>
            <a:ext cx="150491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Pandas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935" y="4038599"/>
            <a:ext cx="1809704" cy="1038224"/>
          </a:xfrm>
          <a:prstGeom prst="roundRect">
            <a:avLst>
              <a:gd name="adj" fmla="val 146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4341" y="4241252"/>
            <a:ext cx="342891" cy="2423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3331" y="4610099"/>
            <a:ext cx="150491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4026" y="1143000"/>
            <a:ext cx="4590935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Advanced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34026" y="1733550"/>
            <a:ext cx="4590935" cy="1047749"/>
          </a:xfrm>
          <a:prstGeom prst="roundRect">
            <a:avLst>
              <a:gd name="adj" fmla="val 1454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24521" y="20002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8819" y="2173165"/>
            <a:ext cx="304792" cy="18756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10304" y="1924049"/>
            <a:ext cx="268598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Exploratory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304" y="2305049"/>
            <a:ext cx="268598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Matplotlib &amp; Seaborn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4026" y="2933699"/>
            <a:ext cx="4590935" cy="1047749"/>
          </a:xfrm>
          <a:prstGeom prst="roundRect">
            <a:avLst>
              <a:gd name="adj" fmla="val 1454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24521" y="32004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8819" y="3349869"/>
            <a:ext cx="304792" cy="2344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10304" y="3124200"/>
            <a:ext cx="189542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Machine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304" y="3505199"/>
            <a:ext cx="189542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Scikit-learn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34026" y="4133849"/>
            <a:ext cx="4590935" cy="1047749"/>
          </a:xfrm>
          <a:prstGeom prst="roundRect">
            <a:avLst>
              <a:gd name="adj" fmla="val 1454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24521" y="44005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8819" y="4550019"/>
            <a:ext cx="304792" cy="23446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10304" y="4324349"/>
            <a:ext cx="242881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Interactive Dashboards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304" y="4705350"/>
            <a:ext cx="242881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Power BI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4026" y="5410199"/>
            <a:ext cx="2219269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86422" y="5562600"/>
            <a:ext cx="191447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Total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422" y="5848350"/>
            <a:ext cx="1914477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7DE545"/>
                </a:solidFill>
                <a:latin typeface="Montserrat"/>
              </a:rP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05692" y="5410199"/>
            <a:ext cx="2219269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58088" y="5562600"/>
            <a:ext cx="191447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58088" y="5848350"/>
            <a:ext cx="1914477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7DE545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6181570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Data Cleaning &amp;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933449"/>
            <a:ext cx="6953076" cy="1038224"/>
          </a:xfrm>
          <a:prstGeom prst="roundRect">
            <a:avLst>
              <a:gd name="adj" fmla="val 146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7228" y="1143000"/>
            <a:ext cx="609584" cy="609600"/>
          </a:xfrm>
          <a:prstGeom prst="roundRect">
            <a:avLst>
              <a:gd name="adj" fmla="val 31246875"/>
            </a:avLst>
          </a:prstGeom>
          <a:gradFill rotWithShape="1">
            <a:gsLst>
              <a:gs pos="0">
                <a:srgbClr val="7DE545"/>
              </a:gs>
              <a:gs pos="100000">
                <a:srgbClr val="5BC03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7228" y="1143000"/>
            <a:ext cx="609584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9325E"/>
                </a:solidFill>
                <a:latin typeface="Roboto Flex"/>
              </a:rPr>
              <a:t>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7308" y="1288174"/>
            <a:ext cx="342891" cy="319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52596" y="1123949"/>
            <a:ext cx="424804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Handled Missing Values &amp;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2596" y="1495424"/>
            <a:ext cx="424804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Data quality assurance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124075"/>
            <a:ext cx="6953076" cy="1038224"/>
          </a:xfrm>
          <a:prstGeom prst="roundRect">
            <a:avLst>
              <a:gd name="adj" fmla="val 146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228" y="2343150"/>
            <a:ext cx="609584" cy="609600"/>
          </a:xfrm>
          <a:prstGeom prst="roundRect">
            <a:avLst>
              <a:gd name="adj" fmla="val 31246875"/>
            </a:avLst>
          </a:prstGeom>
          <a:gradFill rotWithShape="1">
            <a:gsLst>
              <a:gs pos="0">
                <a:srgbClr val="7DE545"/>
              </a:gs>
              <a:gs pos="100000">
                <a:srgbClr val="5BC03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228" y="2343150"/>
            <a:ext cx="609584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9325E"/>
                </a:solidFill>
                <a:latin typeface="Roboto Flex"/>
              </a:rPr>
              <a:t>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308" y="2488324"/>
            <a:ext cx="342891" cy="3192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52596" y="2314575"/>
            <a:ext cx="443853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Converted Date &amp; Categorical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2596" y="2686050"/>
            <a:ext cx="443853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Data type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314700"/>
            <a:ext cx="6953076" cy="1038224"/>
          </a:xfrm>
          <a:prstGeom prst="roundRect">
            <a:avLst>
              <a:gd name="adj" fmla="val 146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7228" y="3524250"/>
            <a:ext cx="609584" cy="609600"/>
          </a:xfrm>
          <a:prstGeom prst="roundRect">
            <a:avLst>
              <a:gd name="adj" fmla="val 31246875"/>
            </a:avLst>
          </a:prstGeom>
          <a:gradFill rotWithShape="1">
            <a:gsLst>
              <a:gs pos="0">
                <a:srgbClr val="7DE545"/>
              </a:gs>
              <a:gs pos="100000">
                <a:srgbClr val="5BC03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7228" y="3524250"/>
            <a:ext cx="609584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9325E"/>
                </a:solidFill>
                <a:latin typeface="Roboto Flex"/>
              </a:rPr>
              <a:t>3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7308" y="3696028"/>
            <a:ext cx="342891" cy="2660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52596" y="3505199"/>
            <a:ext cx="353368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Performed 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2596" y="3876674"/>
            <a:ext cx="353368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New variable creation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505325"/>
            <a:ext cx="6953076" cy="1038224"/>
          </a:xfrm>
          <a:prstGeom prst="roundRect">
            <a:avLst>
              <a:gd name="adj" fmla="val 146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7228" y="4724399"/>
            <a:ext cx="609584" cy="609600"/>
          </a:xfrm>
          <a:prstGeom prst="roundRect">
            <a:avLst>
              <a:gd name="adj" fmla="val 31246875"/>
            </a:avLst>
          </a:prstGeom>
          <a:gradFill rotWithShape="1">
            <a:gsLst>
              <a:gs pos="0">
                <a:srgbClr val="7DE545"/>
              </a:gs>
              <a:gs pos="100000">
                <a:srgbClr val="5BC03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228" y="4724399"/>
            <a:ext cx="609584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9325E"/>
                </a:solidFill>
                <a:latin typeface="Roboto Flex"/>
              </a:rPr>
              <a:t>4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7308" y="4884354"/>
            <a:ext cx="342891" cy="28969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152596" y="4695824"/>
            <a:ext cx="468618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Encoded Customer &amp; Booking Categories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2596" y="5067299"/>
            <a:ext cx="468618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Numerical representation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695949"/>
            <a:ext cx="6953076" cy="1038224"/>
          </a:xfrm>
          <a:prstGeom prst="roundRect">
            <a:avLst>
              <a:gd name="adj" fmla="val 1467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7228" y="5905500"/>
            <a:ext cx="609584" cy="609600"/>
          </a:xfrm>
          <a:prstGeom prst="roundRect">
            <a:avLst>
              <a:gd name="adj" fmla="val 31246875"/>
            </a:avLst>
          </a:prstGeom>
          <a:gradFill rotWithShape="1">
            <a:gsLst>
              <a:gs pos="0">
                <a:srgbClr val="7DE545"/>
              </a:gs>
              <a:gs pos="100000">
                <a:srgbClr val="5BC03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7228" y="5905500"/>
            <a:ext cx="609584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9325E"/>
                </a:solidFill>
                <a:latin typeface="Roboto Flex"/>
              </a:rPr>
              <a:t>5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7308" y="6065454"/>
            <a:ext cx="342891" cy="28969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152596" y="5886450"/>
            <a:ext cx="389562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Prepared Dataset for ML Modeling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52596" y="6257925"/>
            <a:ext cx="389562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Ready for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81890" y="1676400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72385" y="1921452"/>
            <a:ext cx="533386" cy="42429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53196" y="2743200"/>
            <a:ext cx="3371765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FFFFFF"/>
                </a:solidFill>
                <a:latin typeface="Montserrat"/>
              </a:rPr>
              <a:t>5-Step 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3196" y="3276599"/>
            <a:ext cx="337176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CA3AF"/>
                </a:solidFill>
                <a:latin typeface="Roboto Flex"/>
              </a:rPr>
              <a:t>Data Preparation Pipeline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3196" y="3819524"/>
            <a:ext cx="3371765" cy="21717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81790" y="4057650"/>
            <a:ext cx="102867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Data Quality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67773" y="4097654"/>
            <a:ext cx="228594" cy="2057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81790" y="4514850"/>
            <a:ext cx="133346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Completeness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6307" y="4505325"/>
            <a:ext cx="60005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7DE545"/>
                </a:solidFill>
                <a:latin typeface="Roboto Flex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1790" y="4972050"/>
            <a:ext cx="113344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Consistency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6307" y="4962525"/>
            <a:ext cx="60005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7DE545"/>
                </a:solidFill>
                <a:latin typeface="Roboto Flex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1790" y="5429250"/>
            <a:ext cx="84770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Accuracy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6307" y="5419725"/>
            <a:ext cx="60005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7DE545"/>
                </a:solidFill>
                <a:latin typeface="Roboto Flex"/>
              </a:rPr>
              <a:t>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510527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761999"/>
            <a:ext cx="6591135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80323" y="1248409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10477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9624" y="1185496"/>
            <a:ext cx="304792" cy="257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1110" y="952499"/>
            <a:ext cx="282885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Long Lead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110" y="1371600"/>
            <a:ext cx="282885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Higher cancellation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019299"/>
            <a:ext cx="6591135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80323" y="2505709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5327" y="23050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24" y="2454519"/>
            <a:ext cx="304792" cy="2344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81110" y="2209800"/>
            <a:ext cx="249548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Corporate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10" y="2628900"/>
            <a:ext cx="249548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Stronger retention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276599"/>
            <a:ext cx="6591135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80323" y="3763009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5327" y="3562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24" y="3746988"/>
            <a:ext cx="304792" cy="1641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81110" y="3467100"/>
            <a:ext cx="251453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Peak Seasons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110" y="3886200"/>
            <a:ext cx="251453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ADR increased significantly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533900"/>
            <a:ext cx="6591135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80323" y="5020310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5327" y="48196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9624" y="4992565"/>
            <a:ext cx="304792" cy="18756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81110" y="4724399"/>
            <a:ext cx="246691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Weekend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110" y="5143500"/>
            <a:ext cx="246691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Improved hotel profitability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791200"/>
            <a:ext cx="6591135" cy="10668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180323" y="6277610"/>
            <a:ext cx="1104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5327" y="6076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624" y="6214696"/>
            <a:ext cx="304792" cy="2579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81110" y="5981699"/>
            <a:ext cx="223831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Online 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1110" y="6400800"/>
            <a:ext cx="22383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Highest booking volume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4721" y="1295399"/>
            <a:ext cx="1066773" cy="1066799"/>
          </a:xfrm>
          <a:prstGeom prst="roundRect">
            <a:avLst>
              <a:gd name="adj" fmla="val 17855357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53316" y="1603247"/>
            <a:ext cx="609584" cy="45110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91255" y="2590799"/>
            <a:ext cx="3733706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5 Key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1255" y="3181350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Data-Driven Discoveries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91255" y="3829050"/>
            <a:ext cx="3733706" cy="2552700"/>
          </a:xfrm>
          <a:prstGeom prst="roundRect">
            <a:avLst>
              <a:gd name="adj" fmla="val 895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9849" y="4143375"/>
            <a:ext cx="228594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62740" y="4057650"/>
            <a:ext cx="193352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Analysis Coverage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849" y="46672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0344" y="4552949"/>
            <a:ext cx="158111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Booking Patterns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9849" y="50958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0344" y="4972050"/>
            <a:ext cx="176208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Customer Behavior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9849" y="55244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10344" y="5410199"/>
            <a:ext cx="145728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Revenue Trends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19849" y="59531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0344" y="5829300"/>
            <a:ext cx="160015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Pricing Dynamics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512432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66849"/>
            <a:ext cx="609584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Classification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2095499"/>
            <a:ext cx="6095847" cy="1266824"/>
          </a:xfrm>
          <a:prstGeom prst="roundRect">
            <a:avLst>
              <a:gd name="adj" fmla="val 1203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24193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674" y="2602952"/>
            <a:ext cx="342891" cy="242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5407" y="2324100"/>
            <a:ext cx="48385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Logistic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5407" y="2800350"/>
            <a:ext cx="1762080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5407" y="2800350"/>
            <a:ext cx="1762080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</a:rPr>
              <a:t>Binary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9884" y="2800350"/>
            <a:ext cx="1590635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9884" y="2800350"/>
            <a:ext cx="1590635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</a:rPr>
              <a:t>Probability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514725"/>
            <a:ext cx="6095847" cy="1266824"/>
          </a:xfrm>
          <a:prstGeom prst="roundRect">
            <a:avLst>
              <a:gd name="adj" fmla="val 1203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5327" y="38480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4019878"/>
            <a:ext cx="342891" cy="26604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5407" y="3743325"/>
            <a:ext cx="48385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Decision Tree Classifier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5407" y="4219575"/>
            <a:ext cx="1200119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95407" y="4219575"/>
            <a:ext cx="1200119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</a:rPr>
              <a:t>Interpretable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47923" y="4219575"/>
            <a:ext cx="1076298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7923" y="4219575"/>
            <a:ext cx="1076298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</a:rPr>
              <a:t>Non-Linear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933950"/>
            <a:ext cx="6095847" cy="1266824"/>
          </a:xfrm>
          <a:prstGeom prst="roundRect">
            <a:avLst>
              <a:gd name="adj" fmla="val 1203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5327" y="52578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5417754"/>
            <a:ext cx="342891" cy="2896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95407" y="5162550"/>
            <a:ext cx="48385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Random Forest Classifier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5407" y="5638799"/>
            <a:ext cx="1600159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95407" y="5638799"/>
            <a:ext cx="1600159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</a:rPr>
              <a:t>Ensemble Method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963" y="5638799"/>
            <a:ext cx="1323941" cy="333375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47963" y="5638799"/>
            <a:ext cx="1323941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Roboto Flex"/>
              </a:rPr>
              <a:t>High Accuracy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6" y="733424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3771" y="987569"/>
            <a:ext cx="533386" cy="4061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95967" y="1800225"/>
            <a:ext cx="4228994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FFFFFF"/>
                </a:solidFill>
                <a:latin typeface="Montserrat"/>
              </a:rPr>
              <a:t>3 ML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5967" y="2333624"/>
            <a:ext cx="422899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CA3AF"/>
                </a:solidFill>
                <a:latin typeface="Roboto Flex"/>
              </a:rPr>
              <a:t>Prediction Capabilities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5967" y="2876549"/>
            <a:ext cx="4228994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6462" y="3139916"/>
            <a:ext cx="228594" cy="19716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29354" y="3067050"/>
            <a:ext cx="244786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Cancellation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6462" y="3524250"/>
            <a:ext cx="384800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Estimate booking cancellation probability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5967" y="4152899"/>
            <a:ext cx="4228994" cy="1409699"/>
          </a:xfrm>
          <a:prstGeom prst="roundRect">
            <a:avLst>
              <a:gd name="adj" fmla="val 1081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6462" y="4406265"/>
            <a:ext cx="228594" cy="21717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29354" y="4343400"/>
            <a:ext cx="260978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Dynamic Pricing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6462" y="4800600"/>
            <a:ext cx="3848003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Optimize room rates based on predictions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5967" y="5791200"/>
            <a:ext cx="2038299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48363" y="5943600"/>
            <a:ext cx="173350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Accuracy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8363" y="6267449"/>
            <a:ext cx="1733506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7DE545"/>
                </a:solidFill>
                <a:latin typeface="Montserrat"/>
              </a:rPr>
              <a:t>85%+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86662" y="5791200"/>
            <a:ext cx="2038299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39059" y="5943600"/>
            <a:ext cx="173350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Models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39059" y="6267449"/>
            <a:ext cx="1733506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7DE545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209550"/>
            <a:ext cx="632444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Customer Retention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72365" y="3114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77158" y="266699"/>
            <a:ext cx="18478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</a:rPr>
              <a:t>July 2015 - August 2017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571625"/>
            <a:ext cx="7391215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62740" y="1476375"/>
            <a:ext cx="316222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7943005" y="1896110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53236" y="1702670"/>
            <a:ext cx="171445" cy="1189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00879" y="1666874"/>
            <a:ext cx="86675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Total Bookings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3236" y="1933574"/>
            <a:ext cx="2819329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Montserrat"/>
              </a:rPr>
              <a:t>87K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2740" y="2562224"/>
            <a:ext cx="3162220" cy="981074"/>
          </a:xfrm>
          <a:prstGeom prst="roundRect">
            <a:avLst>
              <a:gd name="adj" fmla="val 155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7938243" y="2986721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236" y="2778841"/>
            <a:ext cx="171445" cy="1382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00879" y="2752725"/>
            <a:ext cx="50481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Avg Stay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3236" y="3019424"/>
            <a:ext cx="2819329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Montserrat"/>
              </a:rPr>
              <a:t>3.63</a:t>
            </a:r>
            <a:r>
              <a:rPr sz="1196" b="1">
                <a:solidFill>
                  <a:srgbClr val="FFFFFF"/>
                </a:solidFill>
                <a:latin typeface="Montserrat"/>
              </a:rPr>
              <a:t>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2740" y="3657600"/>
            <a:ext cx="316222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943005" y="4077335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53236" y="3868686"/>
            <a:ext cx="171445" cy="1493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00879" y="3848099"/>
            <a:ext cx="86675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Avg Lead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3236" y="4114800"/>
            <a:ext cx="2819329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Montserrat"/>
              </a:rPr>
              <a:t>79.97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2740" y="4743450"/>
            <a:ext cx="3162220" cy="981074"/>
          </a:xfrm>
          <a:prstGeom prst="roundRect">
            <a:avLst>
              <a:gd name="adj" fmla="val 155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7938243" y="5167947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53236" y="4954536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00879" y="4933950"/>
            <a:ext cx="10381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Cancellation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3236" y="5200650"/>
            <a:ext cx="2819329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7DE545"/>
                </a:solidFill>
                <a:latin typeface="Montserrat"/>
              </a:rPr>
              <a:t>27.52</a:t>
            </a:r>
            <a:r>
              <a:rPr sz="1196" b="1">
                <a:solidFill>
                  <a:srgbClr val="7DE545"/>
                </a:solidFill>
                <a:latin typeface="Montserrat"/>
              </a:rPr>
              <a:t>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2740" y="5838824"/>
            <a:ext cx="316222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7943005" y="6258559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53236" y="6052676"/>
            <a:ext cx="171445" cy="1437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00879" y="6029325"/>
            <a:ext cx="93342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Retention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3236" y="6296024"/>
            <a:ext cx="2819329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Montserrat"/>
              </a:rPr>
              <a:t>3.86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888660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Customer Retention Dashboard Key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647699"/>
            <a:ext cx="6343491" cy="1247775"/>
          </a:xfrm>
          <a:prstGeom prst="roundRect">
            <a:avLst>
              <a:gd name="adj" fmla="val 1221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08886" y="1205546"/>
            <a:ext cx="1247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426" y="9144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674" y="1070527"/>
            <a:ext cx="266693" cy="144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43011" y="876299"/>
            <a:ext cx="48004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Cancellation Rate Increased Yearly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11" y="1352549"/>
            <a:ext cx="480047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Rising trend from 20.35% to 31.95% over the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095499"/>
            <a:ext cx="6343491" cy="1247775"/>
          </a:xfrm>
          <a:prstGeom prst="roundRect">
            <a:avLst>
              <a:gd name="adj" fmla="val 1221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08886" y="2653346"/>
            <a:ext cx="1247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3426" y="23621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2495135"/>
            <a:ext cx="266693" cy="19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43011" y="2324100"/>
            <a:ext cx="5162420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Transient Customers Dominated 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3011" y="2800350"/>
            <a:ext cx="516242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Highest volume with 50K confirmed and 22K cancelled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524250"/>
            <a:ext cx="6343491" cy="1647825"/>
          </a:xfrm>
          <a:prstGeom prst="roundRect">
            <a:avLst>
              <a:gd name="adj" fmla="val 924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91139" y="4282122"/>
            <a:ext cx="1647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3426" y="37909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3915189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43011" y="3752849"/>
            <a:ext cx="5238619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Corporate Customers Showed Better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3011" y="4629150"/>
            <a:ext cx="52386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Stronger loyalty patterns compared to other segments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372100"/>
            <a:ext cx="6343491" cy="1647825"/>
          </a:xfrm>
          <a:prstGeom prst="roundRect">
            <a:avLst>
              <a:gd name="adj" fmla="val 924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91139" y="6129972"/>
            <a:ext cx="1647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3426" y="56387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674" y="5754342"/>
            <a:ext cx="266693" cy="226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43011" y="5600700"/>
            <a:ext cx="5238619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Repeat Guests Contributed a Smaller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3011" y="6477000"/>
            <a:ext cx="52386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New guests account for 96.14% of bookings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899" y="1143000"/>
            <a:ext cx="1066773" cy="1066799"/>
          </a:xfrm>
          <a:prstGeom prst="roundRect">
            <a:avLst>
              <a:gd name="adj" fmla="val 17855357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29494" y="1455420"/>
            <a:ext cx="609584" cy="44195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43611" y="2400300"/>
            <a:ext cx="3981350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4 Key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611" y="2990849"/>
            <a:ext cx="398135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Dashboard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611" y="3638550"/>
            <a:ext cx="398135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205" y="3962399"/>
            <a:ext cx="218117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Highest Cancellation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7218" y="3867149"/>
            <a:ext cx="1019149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7DE545"/>
                </a:solidFill>
                <a:latin typeface="Montserrat"/>
              </a:rPr>
              <a:t>31.95%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205" y="4438649"/>
            <a:ext cx="3524161" cy="76200"/>
          </a:xfrm>
          <a:prstGeom prst="roundRect">
            <a:avLst>
              <a:gd name="adj" fmla="val 24997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772205" y="4438649"/>
            <a:ext cx="1123921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543611" y="4895849"/>
            <a:ext cx="3981350" cy="1619250"/>
          </a:xfrm>
          <a:prstGeom prst="roundRect">
            <a:avLst>
              <a:gd name="adj" fmla="val 941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34106" y="5194934"/>
            <a:ext cx="228594" cy="12572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76998" y="5086350"/>
            <a:ext cx="214307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Customer 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4106" y="5600700"/>
            <a:ext cx="100962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New Guests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9574" y="5581649"/>
            <a:ext cx="130489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7DE545"/>
                </a:solidFill>
                <a:latin typeface="Roboto Flex"/>
              </a:rPr>
              <a:t>84K (96.14%)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4106" y="6029325"/>
            <a:ext cx="83817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Corporate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96327" y="6019800"/>
            <a:ext cx="43813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Roboto Flex"/>
              </a:rPr>
              <a:t>1.4K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209550"/>
            <a:ext cx="5600559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Dynamic Pricing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91415" y="3114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96207" y="266699"/>
            <a:ext cx="182875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</a:rPr>
              <a:t>Revenue &amp; ADR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562100"/>
            <a:ext cx="7391215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62740" y="1476375"/>
            <a:ext cx="3162220" cy="981074"/>
          </a:xfrm>
          <a:prstGeom prst="roundRect">
            <a:avLst>
              <a:gd name="adj" fmla="val 155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7938243" y="1900872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53236" y="1698522"/>
            <a:ext cx="171445" cy="127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00879" y="1666874"/>
            <a:ext cx="81912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3236" y="1933574"/>
            <a:ext cx="2819329" cy="3714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Montserrat"/>
              </a:rPr>
              <a:t>34.45</a:t>
            </a:r>
            <a:r>
              <a:rPr sz="1196" b="1">
                <a:solidFill>
                  <a:srgbClr val="FFFFFF"/>
                </a:solidFill>
                <a:latin typeface="Montserrat"/>
              </a:rPr>
              <a:t>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2740" y="2571750"/>
            <a:ext cx="316222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7943005" y="2991485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236" y="2788366"/>
            <a:ext cx="171445" cy="1382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00879" y="2762249"/>
            <a:ext cx="76198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Average 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3236" y="3028950"/>
            <a:ext cx="2819329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Montserrat"/>
              </a:rPr>
              <a:t>106.46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2740" y="3657600"/>
            <a:ext cx="316222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943005" y="4077335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53236" y="3890808"/>
            <a:ext cx="171445" cy="1050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00879" y="3848099"/>
            <a:ext cx="96200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Revenue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3236" y="4114800"/>
            <a:ext cx="2819329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7DE545"/>
                </a:solidFill>
                <a:latin typeface="Montserrat"/>
              </a:rPr>
              <a:t>+192%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2740" y="4743450"/>
            <a:ext cx="316222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7943005" y="5163185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53236" y="4949005"/>
            <a:ext cx="171445" cy="1603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00879" y="4933950"/>
            <a:ext cx="76198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Peak Season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3236" y="5200650"/>
            <a:ext cx="2819329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Montserrat"/>
              </a:rPr>
              <a:t>14.3M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2740" y="5829300"/>
            <a:ext cx="3162220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7943005" y="6249035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53236" y="6065274"/>
            <a:ext cx="171445" cy="9955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00879" y="6019800"/>
            <a:ext cx="61910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</a:rPr>
              <a:t>ADR 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3236" y="6286500"/>
            <a:ext cx="2819329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Montserrat"/>
              </a:rPr>
              <a:t>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8162720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Dynamic Pricing Dashboard Key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647699"/>
            <a:ext cx="6343491" cy="1647825"/>
          </a:xfrm>
          <a:prstGeom prst="roundRect">
            <a:avLst>
              <a:gd name="adj" fmla="val 924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91139" y="1405571"/>
            <a:ext cx="1647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426" y="9144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674" y="1070527"/>
            <a:ext cx="266693" cy="144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43011" y="876299"/>
            <a:ext cx="5238619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Revenue Peaked During High-Demand Periods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11" y="1752599"/>
            <a:ext cx="52386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Peak revenue reached $14.3M in high-demand seasons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495550"/>
            <a:ext cx="6343491" cy="1247775"/>
          </a:xfrm>
          <a:prstGeom prst="roundRect">
            <a:avLst>
              <a:gd name="adj" fmla="val 1221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08886" y="3053397"/>
            <a:ext cx="1247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3426" y="27622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2912579"/>
            <a:ext cx="266693" cy="1565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43011" y="2724150"/>
            <a:ext cx="474333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ADR Increased Across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3011" y="3200400"/>
            <a:ext cx="474333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Average Daily Rate showed consistent growth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924299"/>
            <a:ext cx="6343491" cy="1247775"/>
          </a:xfrm>
          <a:prstGeom prst="roundRect">
            <a:avLst>
              <a:gd name="adj" fmla="val 1221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08886" y="4482146"/>
            <a:ext cx="1247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3426" y="41909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4335531"/>
            <a:ext cx="266693" cy="1681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43011" y="4152899"/>
            <a:ext cx="4771905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Weekend Pricing Improved Profitability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3011" y="4629150"/>
            <a:ext cx="477190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Higher weekend rates contributed to better margins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372100"/>
            <a:ext cx="6343491" cy="1647825"/>
          </a:xfrm>
          <a:prstGeom prst="roundRect">
            <a:avLst>
              <a:gd name="adj" fmla="val 924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91139" y="6129972"/>
            <a:ext cx="1647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3426" y="56387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674" y="5763039"/>
            <a:ext cx="266693" cy="2087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43011" y="5600700"/>
            <a:ext cx="5238619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Cancellation Loss Significantly Impacted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3011" y="6477000"/>
            <a:ext cx="52386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Revenue leakage from cancelled bookings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899" y="981074"/>
            <a:ext cx="1066773" cy="1066799"/>
          </a:xfrm>
          <a:prstGeom prst="roundRect">
            <a:avLst>
              <a:gd name="adj" fmla="val 17855357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29494" y="1282827"/>
            <a:ext cx="609584" cy="4632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43611" y="2238375"/>
            <a:ext cx="3981350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4 Key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611" y="2828925"/>
            <a:ext cx="398135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Pricing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611" y="3476624"/>
            <a:ext cx="3981350" cy="1438274"/>
          </a:xfrm>
          <a:prstGeom prst="roundRect">
            <a:avLst>
              <a:gd name="adj" fmla="val 1059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205" y="3790949"/>
            <a:ext cx="183827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Total Revenue 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3416" y="3705224"/>
            <a:ext cx="942951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7DE545"/>
                </a:solidFill>
                <a:latin typeface="Montserrat"/>
              </a:rPr>
              <a:t>+192%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205" y="4276725"/>
            <a:ext cx="3524161" cy="76200"/>
          </a:xfrm>
          <a:prstGeom prst="roundRect">
            <a:avLst>
              <a:gd name="adj" fmla="val 249975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772205" y="4276725"/>
            <a:ext cx="3000299" cy="76200"/>
          </a:xfrm>
          <a:prstGeom prst="roundRect">
            <a:avLst>
              <a:gd name="adj" fmla="val 249975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205" y="4429125"/>
            <a:ext cx="352416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</a:rPr>
              <a:t>$4.9M → $14.3M (2015-2017)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611" y="5067299"/>
            <a:ext cx="3981350" cy="1619250"/>
          </a:xfrm>
          <a:prstGeom prst="roundRect">
            <a:avLst>
              <a:gd name="adj" fmla="val 941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34106" y="5340667"/>
            <a:ext cx="228594" cy="1771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76998" y="5257800"/>
            <a:ext cx="214307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Pricing 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34106" y="5772150"/>
            <a:ext cx="108582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Average ADR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2960" y="5753099"/>
            <a:ext cx="77150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7DE545"/>
                </a:solidFill>
                <a:latin typeface="Roboto Flex"/>
              </a:rPr>
              <a:t>$106.46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4106" y="6191250"/>
            <a:ext cx="149538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Peak Season ADR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91535" y="6181724"/>
            <a:ext cx="74293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Roboto Flex"/>
              </a:rPr>
              <a:t>Highest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567675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761999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94611" y="1234121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9905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575" y="1106142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4912" y="952499"/>
            <a:ext cx="463855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Implement Loyalty &amp; Retention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4912" y="1362075"/>
            <a:ext cx="46385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Enhance customer engagement and repeat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028825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94611" y="2500947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5327" y="22574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575" y="2374416"/>
            <a:ext cx="266693" cy="223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4912" y="2219324"/>
            <a:ext cx="405754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Apply Predictive Cancellation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912" y="2628900"/>
            <a:ext cx="405754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Proactively manage at-risk bookings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295650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94611" y="3767772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5327" y="35242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575" y="3648489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4912" y="3486150"/>
            <a:ext cx="346701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Use Dynamic Seasonal 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4912" y="3895724"/>
            <a:ext cx="346701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Adjust rates based on demand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562475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94611" y="5034597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5327" y="47910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575" y="4924010"/>
            <a:ext cx="266693" cy="19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04912" y="4752974"/>
            <a:ext cx="491477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Increase ADR During High-Demand Periods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12" y="5162550"/>
            <a:ext cx="491477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Maximize revenue during peak seasons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829300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194611" y="6301422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5327" y="60579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0575" y="6171992"/>
            <a:ext cx="266693" cy="22901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04912" y="6019800"/>
            <a:ext cx="420994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Improve Forecasting with ML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4912" y="6429375"/>
            <a:ext cx="420994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Enhance prediction accuracy for better decisions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4721" y="1543050"/>
            <a:ext cx="1066773" cy="1066799"/>
          </a:xfrm>
          <a:prstGeom prst="roundRect">
            <a:avLst>
              <a:gd name="adj" fmla="val 17855357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53316" y="1820418"/>
            <a:ext cx="609584" cy="51206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91255" y="2800350"/>
            <a:ext cx="3733706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5 Strategic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1255" y="3390899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Implementation Roadmap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91255" y="4038599"/>
            <a:ext cx="3733706" cy="2085975"/>
          </a:xfrm>
          <a:prstGeom prst="roundRect">
            <a:avLst>
              <a:gd name="adj" fmla="val 730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9849" y="4350067"/>
            <a:ext cx="228594" cy="1771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62740" y="4267199"/>
            <a:ext cx="176208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Expected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849" y="4743450"/>
            <a:ext cx="137156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Revenue Growth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8663" y="4724399"/>
            <a:ext cx="84770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7DE545"/>
                </a:solidFill>
                <a:latin typeface="Roboto Flex"/>
              </a:rPr>
              <a:t>+15-20%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849" y="5162550"/>
            <a:ext cx="122869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Retention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53456" y="5153024"/>
            <a:ext cx="54291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7DE545"/>
                </a:solidFill>
                <a:latin typeface="Roboto Flex"/>
              </a:rPr>
              <a:t>+10%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849" y="5600700"/>
            <a:ext cx="148586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ADR Optimization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77278" y="5581649"/>
            <a:ext cx="41908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7DE545"/>
                </a:solidFill>
                <a:latin typeface="Roboto Flex"/>
              </a:rPr>
              <a:t>+8%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445758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761999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94611" y="1234121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9905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575" y="1124985"/>
            <a:ext cx="266693" cy="188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4912" y="952499"/>
            <a:ext cx="465760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Real-Time Pricing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4912" y="1362075"/>
            <a:ext cx="465760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Dynamic pricing adjustments based on live market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028825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94611" y="2500947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5327" y="22574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575" y="2413552"/>
            <a:ext cx="266693" cy="1449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4912" y="2219324"/>
            <a:ext cx="509574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Advanced Demand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912" y="2628900"/>
            <a:ext cx="509574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Multi-factor predictive models for accurate demand 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295650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94611" y="3767772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5327" y="35242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575" y="3648489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4912" y="3486150"/>
            <a:ext cx="460998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Deep Learning-Based Churn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4912" y="3895724"/>
            <a:ext cx="460998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Neural networks for advanced customer churn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562475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94611" y="5034597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5327" y="47910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575" y="4895021"/>
            <a:ext cx="266693" cy="24930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04912" y="4752974"/>
            <a:ext cx="434329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Integration with Live Booking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12" y="5162550"/>
            <a:ext cx="434329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Real-time data synchronization with hotel PMS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829300"/>
            <a:ext cx="6591135" cy="1076325"/>
          </a:xfrm>
          <a:prstGeom prst="roundRect">
            <a:avLst>
              <a:gd name="adj" fmla="val 1415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194611" y="6301422"/>
            <a:ext cx="1076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5327" y="60579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0575" y="6161846"/>
            <a:ext cx="266693" cy="24930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04912" y="6019800"/>
            <a:ext cx="418137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Automated Recommendation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4912" y="6429375"/>
            <a:ext cx="418137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AI-driven suggestions for pricing and 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4721" y="1523999"/>
            <a:ext cx="1066773" cy="1066799"/>
          </a:xfrm>
          <a:prstGeom prst="roundRect">
            <a:avLst>
              <a:gd name="adj" fmla="val 17855357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53316" y="1805939"/>
            <a:ext cx="609584" cy="5029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91255" y="2781300"/>
            <a:ext cx="3733706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5 Future Plans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1255" y="3371850"/>
            <a:ext cx="373370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Innovation Roadmap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91255" y="4019549"/>
            <a:ext cx="3733706" cy="2124075"/>
          </a:xfrm>
          <a:prstGeom prst="roundRect">
            <a:avLst>
              <a:gd name="adj" fmla="val 717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9849" y="4356734"/>
            <a:ext cx="228594" cy="12572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62740" y="4248150"/>
            <a:ext cx="236214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Implementation Phase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849" y="4762500"/>
            <a:ext cx="93342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Short-Term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91515" y="4743450"/>
            <a:ext cx="90485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Roboto Flex"/>
              </a:rPr>
              <a:t>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849" y="5181599"/>
            <a:ext cx="117154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Medium-Term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15357" y="5172075"/>
            <a:ext cx="58101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Roboto Flex"/>
              </a:rPr>
              <a:t>1 year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849" y="5619750"/>
            <a:ext cx="90485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Long-Term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10584" y="5600700"/>
            <a:ext cx="68578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  <a:latin typeface="Roboto Flex"/>
              </a:rPr>
              <a:t>2 years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220974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66799"/>
            <a:ext cx="6343491" cy="1962149"/>
          </a:xfrm>
          <a:prstGeom prst="roundRect">
            <a:avLst>
              <a:gd name="adj" fmla="val 77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48301" y="1981833"/>
            <a:ext cx="1962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426" y="129539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7723" y="1444869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57308" y="1295399"/>
            <a:ext cx="5124321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Analytics Improves Revenue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7308" y="2171700"/>
            <a:ext cx="5124321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Data-driven approach optimizes hotel operations and profitability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257550"/>
            <a:ext cx="6343491" cy="1562100"/>
          </a:xfrm>
          <a:prstGeom prst="roundRect">
            <a:avLst>
              <a:gd name="adj" fmla="val 975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-48277" y="3972560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3426" y="34861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3635619"/>
            <a:ext cx="304792" cy="2344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57308" y="3486150"/>
            <a:ext cx="512432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Interactive Dashboards Provide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7308" y="3962399"/>
            <a:ext cx="5124321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Actionable business intelligence for informed decision-making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5048250"/>
            <a:ext cx="6343491" cy="1562100"/>
          </a:xfrm>
          <a:prstGeom prst="roundRect">
            <a:avLst>
              <a:gd name="adj" fmla="val 975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48277" y="5763260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3426" y="52768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23" y="5420457"/>
            <a:ext cx="304792" cy="246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57308" y="5276850"/>
            <a:ext cx="512432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Machine Learning Enhances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7308" y="5753099"/>
            <a:ext cx="5124321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Roboto Flex"/>
              </a:rPr>
              <a:t>Advanced algorithms support customer retention and dynamic pricing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701" y="1352549"/>
            <a:ext cx="1219169" cy="1219200"/>
          </a:xfrm>
          <a:prstGeom prst="roundRect">
            <a:avLst>
              <a:gd name="adj" fmla="val 15623437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1395" y="1674358"/>
            <a:ext cx="685782" cy="57558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43611" y="2800350"/>
            <a:ext cx="3981350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Montserrat"/>
              </a:rPr>
              <a:t>Project Success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611" y="3448049"/>
            <a:ext cx="398135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Key Achievements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611" y="4095749"/>
            <a:ext cx="3981350" cy="2209800"/>
          </a:xfrm>
          <a:prstGeom prst="roundRect">
            <a:avLst>
              <a:gd name="adj" fmla="val 689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2205" y="4410074"/>
            <a:ext cx="228594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15097" y="4324349"/>
            <a:ext cx="158111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Impact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205" y="4857750"/>
            <a:ext cx="137156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Revenue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2485" y="4819650"/>
            <a:ext cx="72388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7DE545"/>
                </a:solidFill>
                <a:latin typeface="Roboto Flex"/>
              </a:rPr>
              <a:t>+192%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205" y="5314950"/>
            <a:ext cx="167635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Prediction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05832" y="5276850"/>
            <a:ext cx="59053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7DE545"/>
                </a:solidFill>
                <a:latin typeface="Roboto Flex"/>
              </a:rPr>
              <a:t>85%+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205" y="5772150"/>
            <a:ext cx="144776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Decision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6742" y="5734050"/>
            <a:ext cx="100962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7DE545"/>
                </a:solidFill>
                <a:latin typeface="Roboto Flex"/>
              </a:rPr>
              <a:t>Real-time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7DE54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7DE54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62460" y="1238249"/>
            <a:ext cx="1066773" cy="1066799"/>
          </a:xfrm>
          <a:prstGeom prst="roundRect">
            <a:avLst>
              <a:gd name="adj" fmla="val 17855357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52956" y="1483858"/>
            <a:ext cx="685782" cy="575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71825" y="2609850"/>
            <a:ext cx="4248043" cy="10001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825"/>
              </a:lnSpc>
              <a:spcBef>
                <a:spcPts val="0"/>
              </a:spcBef>
              <a:spcAft>
                <a:spcPts val="1560"/>
              </a:spcAft>
            </a:pPr>
            <a:r>
              <a:rPr sz="4186" b="1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8599" y="3981449"/>
            <a:ext cx="761980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976" y="3889698"/>
            <a:ext cx="285742" cy="2216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91115" y="3981449"/>
            <a:ext cx="761980" cy="381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1825" y="4476750"/>
            <a:ext cx="424804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3120"/>
              </a:spcAft>
            </a:pPr>
            <a:r>
              <a:rPr sz="1554" b="0">
                <a:solidFill>
                  <a:srgbClr val="D1D5DB"/>
                </a:solidFill>
                <a:latin typeface="Roboto Flex"/>
              </a:rPr>
              <a:t>For Your Attention &amp; Time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1825" y="5384482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76618" y="5314950"/>
            <a:ext cx="185732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CA3AF"/>
                </a:solidFill>
                <a:latin typeface="Roboto Flex"/>
              </a:rPr>
              <a:t>Questions Welcome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540" y="5314950"/>
            <a:ext cx="5714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Roboto Flex"/>
              </a:rPr>
              <a:t>|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8283" y="5370194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53076" y="5314950"/>
            <a:ext cx="126679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CA3AF"/>
                </a:solidFill>
                <a:latin typeface="Roboto Flex"/>
              </a:rPr>
              <a:t>Let's Connect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734</Words>
  <Application>Microsoft Office PowerPoint</Application>
  <PresentationFormat>Widescreen</PresentationFormat>
  <Paragraphs>231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Montserrat</vt:lpstr>
      <vt:lpstr>Roboto Flex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Shahil farshad</cp:lastModifiedBy>
  <cp:revision>1</cp:revision>
  <dcterms:created xsi:type="dcterms:W3CDTF">2013-01-27T09:14:16Z</dcterms:created>
  <dcterms:modified xsi:type="dcterms:W3CDTF">2026-05-12T13:47:39Z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{"Label":"1","ContentProducer":"001191110108MA01KP2T5U00000","ProduceID":"17fee7632f66eac450cc7e47775de0b3","ReservedCode1":"","ContentPropagator":"001191110108MA01KP2T5U00000","PropagateID":"17fee7632f66eac450cc7e47775de0b3","ReservedCode2":""}</vt:lpwstr>
  </property>
</Properties>
</file>